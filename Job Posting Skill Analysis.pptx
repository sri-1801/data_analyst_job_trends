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anujasri S" userId="605ff9f82e491c7d" providerId="LiveId" clId="{106111CE-691B-4191-A773-F5EE61EF9E46}"/>
    <pc:docChg chg="modSld">
      <pc:chgData name="Dhanujasri S" userId="605ff9f82e491c7d" providerId="LiveId" clId="{106111CE-691B-4191-A773-F5EE61EF9E46}" dt="2025-10-26T16:46:50.280" v="22" actId="12"/>
      <pc:docMkLst>
        <pc:docMk/>
      </pc:docMkLst>
      <pc:sldChg chg="modSp mod">
        <pc:chgData name="Dhanujasri S" userId="605ff9f82e491c7d" providerId="LiveId" clId="{106111CE-691B-4191-A773-F5EE61EF9E46}" dt="2025-10-26T16:41:22.342" v="15" actId="20577"/>
        <pc:sldMkLst>
          <pc:docMk/>
          <pc:sldMk cId="3953604358" sldId="257"/>
        </pc:sldMkLst>
        <pc:spChg chg="mod">
          <ac:chgData name="Dhanujasri S" userId="605ff9f82e491c7d" providerId="LiveId" clId="{106111CE-691B-4191-A773-F5EE61EF9E46}" dt="2025-10-26T16:41:22.342" v="15" actId="20577"/>
          <ac:spMkLst>
            <pc:docMk/>
            <pc:sldMk cId="3953604358" sldId="257"/>
            <ac:spMk id="4" creationId="{F4F95D4C-7DE7-008B-6923-C18B4CA86E86}"/>
          </ac:spMkLst>
        </pc:spChg>
      </pc:sldChg>
      <pc:sldChg chg="modSp mod">
        <pc:chgData name="Dhanujasri S" userId="605ff9f82e491c7d" providerId="LiveId" clId="{106111CE-691B-4191-A773-F5EE61EF9E46}" dt="2025-10-26T16:46:50.280" v="22" actId="12"/>
        <pc:sldMkLst>
          <pc:docMk/>
          <pc:sldMk cId="1286811112" sldId="261"/>
        </pc:sldMkLst>
        <pc:spChg chg="mod">
          <ac:chgData name="Dhanujasri S" userId="605ff9f82e491c7d" providerId="LiveId" clId="{106111CE-691B-4191-A773-F5EE61EF9E46}" dt="2025-10-26T16:46:50.280" v="22" actId="12"/>
          <ac:spMkLst>
            <pc:docMk/>
            <pc:sldMk cId="1286811112" sldId="261"/>
            <ac:spMk id="8" creationId="{496A6094-D1A9-FD82-DCD4-7B8FEE1F5A4D}"/>
          </ac:spMkLst>
        </pc:spChg>
      </pc:sldChg>
      <pc:sldChg chg="modSp mod">
        <pc:chgData name="Dhanujasri S" userId="605ff9f82e491c7d" providerId="LiveId" clId="{106111CE-691B-4191-A773-F5EE61EF9E46}" dt="2025-10-26T16:46:39.299" v="21" actId="12"/>
        <pc:sldMkLst>
          <pc:docMk/>
          <pc:sldMk cId="1135577457" sldId="262"/>
        </pc:sldMkLst>
        <pc:spChg chg="mod">
          <ac:chgData name="Dhanujasri S" userId="605ff9f82e491c7d" providerId="LiveId" clId="{106111CE-691B-4191-A773-F5EE61EF9E46}" dt="2025-10-26T16:46:39.299" v="21" actId="12"/>
          <ac:spMkLst>
            <pc:docMk/>
            <pc:sldMk cId="1135577457" sldId="262"/>
            <ac:spMk id="9" creationId="{42BF5515-0CD2-88AD-E869-3017093FE75D}"/>
          </ac:spMkLst>
        </pc:spChg>
        <pc:spChg chg="mod">
          <ac:chgData name="Dhanujasri S" userId="605ff9f82e491c7d" providerId="LiveId" clId="{106111CE-691B-4191-A773-F5EE61EF9E46}" dt="2025-10-26T16:40:38.594" v="10" actId="255"/>
          <ac:spMkLst>
            <pc:docMk/>
            <pc:sldMk cId="1135577457" sldId="262"/>
            <ac:spMk id="11" creationId="{B5695E5F-93C9-45DD-4CFA-1B9B5A63C42D}"/>
          </ac:spMkLst>
        </pc:spChg>
      </pc:sldChg>
      <pc:sldChg chg="modSp mod">
        <pc:chgData name="Dhanujasri S" userId="605ff9f82e491c7d" providerId="LiveId" clId="{106111CE-691B-4191-A773-F5EE61EF9E46}" dt="2025-10-26T16:46:30.852" v="20" actId="12"/>
        <pc:sldMkLst>
          <pc:docMk/>
          <pc:sldMk cId="3343856133" sldId="263"/>
        </pc:sldMkLst>
        <pc:spChg chg="mod">
          <ac:chgData name="Dhanujasri S" userId="605ff9f82e491c7d" providerId="LiveId" clId="{106111CE-691B-4191-A773-F5EE61EF9E46}" dt="2025-10-26T16:46:30.852" v="20" actId="12"/>
          <ac:spMkLst>
            <pc:docMk/>
            <pc:sldMk cId="3343856133" sldId="263"/>
            <ac:spMk id="5" creationId="{E8210564-DE30-4832-E107-D870EBCCFB53}"/>
          </ac:spMkLst>
        </pc:spChg>
      </pc:sldChg>
      <pc:sldChg chg="modSp mod">
        <pc:chgData name="Dhanujasri S" userId="605ff9f82e491c7d" providerId="LiveId" clId="{106111CE-691B-4191-A773-F5EE61EF9E46}" dt="2025-10-26T16:46:16.970" v="19" actId="12"/>
        <pc:sldMkLst>
          <pc:docMk/>
          <pc:sldMk cId="2121852444" sldId="264"/>
        </pc:sldMkLst>
        <pc:spChg chg="mod">
          <ac:chgData name="Dhanujasri S" userId="605ff9f82e491c7d" providerId="LiveId" clId="{106111CE-691B-4191-A773-F5EE61EF9E46}" dt="2025-10-26T16:46:16.970" v="19" actId="12"/>
          <ac:spMkLst>
            <pc:docMk/>
            <pc:sldMk cId="2121852444" sldId="264"/>
            <ac:spMk id="6" creationId="{3E2B117F-99FF-0FB8-E307-C357DD67E598}"/>
          </ac:spMkLst>
        </pc:spChg>
        <pc:spChg chg="mod">
          <ac:chgData name="Dhanujasri S" userId="605ff9f82e491c7d" providerId="LiveId" clId="{106111CE-691B-4191-A773-F5EE61EF9E46}" dt="2025-10-26T16:40:10.424" v="6" actId="2711"/>
          <ac:spMkLst>
            <pc:docMk/>
            <pc:sldMk cId="2121852444" sldId="264"/>
            <ac:spMk id="7" creationId="{BFD9BDF9-F81D-BC53-9739-BB33634EFA25}"/>
          </ac:spMkLst>
        </pc:spChg>
      </pc:sldChg>
      <pc:sldChg chg="modSp mod">
        <pc:chgData name="Dhanujasri S" userId="605ff9f82e491c7d" providerId="LiveId" clId="{106111CE-691B-4191-A773-F5EE61EF9E46}" dt="2025-10-26T16:39:54.330" v="4" actId="1076"/>
        <pc:sldMkLst>
          <pc:docMk/>
          <pc:sldMk cId="3592682040" sldId="265"/>
        </pc:sldMkLst>
        <pc:spChg chg="mod">
          <ac:chgData name="Dhanujasri S" userId="605ff9f82e491c7d" providerId="LiveId" clId="{106111CE-691B-4191-A773-F5EE61EF9E46}" dt="2025-10-26T16:39:54.330" v="4" actId="1076"/>
          <ac:spMkLst>
            <pc:docMk/>
            <pc:sldMk cId="3592682040" sldId="265"/>
            <ac:spMk id="8" creationId="{AC3160F0-4392-E712-A1A7-70BBDDEA56DD}"/>
          </ac:spMkLst>
        </pc:spChg>
        <pc:graphicFrameChg chg="modGraphic">
          <ac:chgData name="Dhanujasri S" userId="605ff9f82e491c7d" providerId="LiveId" clId="{106111CE-691B-4191-A773-F5EE61EF9E46}" dt="2025-10-26T16:39:30.984" v="1" actId="2711"/>
          <ac:graphicFrameMkLst>
            <pc:docMk/>
            <pc:sldMk cId="3592682040" sldId="265"/>
            <ac:graphicFrameMk id="16" creationId="{D49CC0B0-45E5-FE91-95CD-22D8A38AE37E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434194-CB75-4AE9-96B0-FC1105691A6A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36D02A-62FD-4E73-B39C-4F364BC44A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352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36D02A-62FD-4E73-B39C-4F364BC44A5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08208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36D02A-62FD-4E73-B39C-4F364BC44A5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0636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33C4C-A3F6-354A-E44E-884B3453AC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3F189A-5B37-3546-7EB2-9B91EDB8E6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AE7E5-2146-B62D-968B-299382C8F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9686B-9B5B-481E-828D-191FAB49EC25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C606A-018E-5687-A692-84FA8E236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63A87-AFA8-BCF4-E28A-5BB0CB0FD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9DCC0-8B5F-45B3-AC3A-15A61976FC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937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64C27-9BC3-9655-E822-BF83AD69A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664EA-4402-B25E-F80B-89064B4AD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5B7AF-014E-3DE0-2964-BAE1F4F5D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9686B-9B5B-481E-828D-191FAB49EC25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34EE0-C42C-82CF-545E-B9E87AC9F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3FBC8-8288-B15C-C986-580F45E93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9DCC0-8B5F-45B3-AC3A-15A61976FC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1222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D3DE9-AA9A-8CAF-B3A1-A2B5750A7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44DC4B-003E-E256-CA84-D33FB94D9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681CE-7BFC-90CA-F8E7-D12FA0502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9686B-9B5B-481E-828D-191FAB49EC25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650B9-5E60-585B-B503-FE6E91B30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70849-5BDC-AA1B-6266-9DF9750EE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9DCC0-8B5F-45B3-AC3A-15A61976FC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403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E3B93-7916-D38A-BDAF-54C786EF4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85CCA-D8E7-8586-2737-F2503FC4DA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38C1F1-4FF0-4ED1-F540-AD001D05F6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5A783-F27F-D434-2558-9A5E69F88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9686B-9B5B-481E-828D-191FAB49EC25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1DF936-6E1A-64B6-A133-086F4835F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67FB41-D26D-DFF6-70A4-4B75103CE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9DCC0-8B5F-45B3-AC3A-15A61976FC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4620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472D5-C12E-172D-38CF-8D6CB0644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A3B1B8-5029-5755-474C-DDCBCF71F2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6D6A6-6B90-91C8-A4E0-B17BA1DB4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62EA61-6F36-4BB0-9753-C45C4AE4B9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05B123-2734-7000-F27F-35BEE144A6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92AC43-8268-BCB1-2256-E18DC177B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9686B-9B5B-481E-828D-191FAB49EC25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26B374-C7B4-5F0A-AD5A-E854686CD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900548-A08B-4D68-07FA-1A9A0BD57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9DCC0-8B5F-45B3-AC3A-15A61976FC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8655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1D453-81BF-A859-CD94-89F3838DF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6E0127-636F-78B1-9409-7C58CEB14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9686B-9B5B-481E-828D-191FAB49EC25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1E82AB-9CEB-24C6-D6FF-950DF6D63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537405-26E3-1E65-ACB8-AFF8D8DB5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9DCC0-8B5F-45B3-AC3A-15A61976FC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0817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9DA1B2-2D61-8721-D356-C78536B5D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9686B-9B5B-481E-828D-191FAB49EC25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6906E8-18F6-5CD2-0A95-B403FE92A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A68CC6-870E-8E2A-B776-A8C9DC97D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9DCC0-8B5F-45B3-AC3A-15A61976FC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3074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2E420-7D29-2EC5-FC56-7C04897B3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72F57-5CAD-8865-B918-B93B7B1BE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D28A0C-EAD1-440E-72D0-974976AC82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924524-3C56-FBF5-2713-63239E19B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9686B-9B5B-481E-828D-191FAB49EC25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61174F-2558-9797-2D0D-CB4FBAB1D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F36BA0-757C-5BCF-D655-EB928C2F8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9DCC0-8B5F-45B3-AC3A-15A61976FC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1654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FDCE0-9D07-0B74-BB26-558A820AB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5A1C62-6C20-4EAF-C215-4D69949832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F1D1AD-DF8C-D7E7-C91A-2C483C8FF5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339409-2B87-9533-BB78-A36C0DECC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9686B-9B5B-481E-828D-191FAB49EC25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8993BA-45FA-9C1B-7C96-F2F9C8F28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0F8D9-F82A-54E8-D738-A6605A260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9DCC0-8B5F-45B3-AC3A-15A61976FC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0892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2CCE1-EEC9-80F8-0152-CBB259C25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1C6DBE-07BD-5BF8-B908-26D42D1FE0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67CCF-BB14-068B-1B27-2B4CA78EA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9686B-9B5B-481E-828D-191FAB49EC25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0A627-C696-09EA-19F4-5A788BB7C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D9672-8C23-4C1B-ADD7-2F23CDC8D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9DCC0-8B5F-45B3-AC3A-15A61976FC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5000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0E616F-571E-12B9-42AD-C9966BA14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379BCF-A2F0-B07F-BC98-E115E0EB92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08E62-1B7A-B4F1-FB75-1751DAC01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9686B-9B5B-481E-828D-191FAB49EC25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1679E-CE6F-4E01-D4C4-41229B78B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DF50E-F06A-7572-FA0A-0442171F8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9DCC0-8B5F-45B3-AC3A-15A61976FC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4218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8000">
              <a:schemeClr val="bg1">
                <a:lumMod val="85000"/>
              </a:schemeClr>
            </a:gs>
            <a:gs pos="0">
              <a:schemeClr val="accent1">
                <a:lumMod val="45000"/>
                <a:lumOff val="55000"/>
              </a:schemeClr>
            </a:gs>
            <a:gs pos="56000">
              <a:schemeClr val="accent1">
                <a:lumMod val="45000"/>
                <a:lumOff val="55000"/>
              </a:schemeClr>
            </a:gs>
            <a:gs pos="79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8E147A-368A-37D7-8AF1-6BEB25AC2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327787-D014-4689-392C-A13FA6600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5509D-B153-8227-9B0D-CC1CC27731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B9686B-9B5B-481E-828D-191FAB49EC25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0D5E3-00EF-96D2-03D2-D636694BC7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38203-53E3-63BE-3EEF-0E5860548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79DCC0-8B5F-45B3-AC3A-15A61976FC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814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4F95D4C-7DE7-008B-6923-C18B4CA86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0423" y="1977203"/>
            <a:ext cx="6484019" cy="187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Job Postings Skill Analysis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Identifying the most in-demand skills across industries.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Dhanujasri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Sagadevan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53604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FF821C4-7F6B-7134-CDEA-3482764002CA}"/>
              </a:ext>
            </a:extLst>
          </p:cNvPr>
          <p:cNvSpPr txBox="1"/>
          <p:nvPr/>
        </p:nvSpPr>
        <p:spPr>
          <a:xfrm>
            <a:off x="2626360" y="689094"/>
            <a:ext cx="6101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CD4261-E7BC-0D45-E9FB-4D025372B6E1}"/>
              </a:ext>
            </a:extLst>
          </p:cNvPr>
          <p:cNvSpPr txBox="1"/>
          <p:nvPr/>
        </p:nvSpPr>
        <p:spPr>
          <a:xfrm>
            <a:off x="957580" y="1653739"/>
            <a:ext cx="922274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this project is to extract, analyze, and interpret large-scale job posting data to identify the most in-demand technical and soft skills across major industries.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aims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Quantify the frequency and demand of key technical skills (e.g., Python, SQL, Excel).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cross-industry skill overlap and specialization areas.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insights that can guide job seekers in prioritizing skill development and recruiters in talent acquisition.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A94BFC8-8D9F-5F41-A756-19D81C20E30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5020" y="3361899"/>
            <a:ext cx="4854808" cy="32365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89840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46A6E7-1755-CCAF-E7EB-0B91495E7E89}"/>
              </a:ext>
            </a:extLst>
          </p:cNvPr>
          <p:cNvSpPr txBox="1"/>
          <p:nvPr/>
        </p:nvSpPr>
        <p:spPr>
          <a:xfrm>
            <a:off x="3586480" y="75513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350AF78-1EAB-1CE5-7AE5-9D910273E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841" y="1730276"/>
            <a:ext cx="10830559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was collected via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 scraping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Requests from major portals like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LinkedIn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Naukri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Indeed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includes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10,000+ postings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across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 industries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IT, Finance, Healthcare, Marketing, Education, and Engineering.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posting contains attributes such as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Job Title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Skills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Industry Type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was stored in a structured format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Pandas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exported to CSV for analysis.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46D284-ED9C-D3F3-5BBC-43FD2F0180C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8720" y="2566122"/>
            <a:ext cx="4734559" cy="4422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661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3EB41F-A99B-E74A-7BFB-F7A0D5F4C854}"/>
              </a:ext>
            </a:extLst>
          </p:cNvPr>
          <p:cNvSpPr txBox="1"/>
          <p:nvPr/>
        </p:nvSpPr>
        <p:spPr>
          <a:xfrm>
            <a:off x="3525520" y="88134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Preprocessing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C28A165-396D-3950-16A2-A98C41755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240" y="1793190"/>
            <a:ext cx="755904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duplicates and non-English postings (~7% reduction).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Cleaned inconsistent skill formats using regex (e.g., “Excel Skill” → “Excel”).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Mapped 300+ skill variations into 120 standardized categories.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Nulls in company or location columns filled using mode or ‘Not Specified’.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Final dataset: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9,326 unique job postings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120 skill categories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A30E5D-4177-36F4-7DDC-A3042579454C}"/>
              </a:ext>
            </a:extLst>
          </p:cNvPr>
          <p:cNvSpPr/>
          <p:nvPr/>
        </p:nvSpPr>
        <p:spPr>
          <a:xfrm>
            <a:off x="9499600" y="2428240"/>
            <a:ext cx="1656080" cy="3352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23DBB1-8958-94D2-154F-F4E2C6ACC69A}"/>
              </a:ext>
            </a:extLst>
          </p:cNvPr>
          <p:cNvSpPr/>
          <p:nvPr/>
        </p:nvSpPr>
        <p:spPr>
          <a:xfrm>
            <a:off x="9499600" y="3350736"/>
            <a:ext cx="1656080" cy="3352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F363F9-8F90-8AE8-2C94-04B7EE4E12D1}"/>
              </a:ext>
            </a:extLst>
          </p:cNvPr>
          <p:cNvSpPr/>
          <p:nvPr/>
        </p:nvSpPr>
        <p:spPr>
          <a:xfrm>
            <a:off x="9387840" y="4398477"/>
            <a:ext cx="2062480" cy="7729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PREPROCESSED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1ECD44E-414D-7A7D-7CFC-3FEDE56D4BA9}"/>
              </a:ext>
            </a:extLst>
          </p:cNvPr>
          <p:cNvCxnSpPr>
            <a:stCxn id="9" idx="2"/>
            <a:endCxn id="10" idx="0"/>
          </p:cNvCxnSpPr>
          <p:nvPr/>
        </p:nvCxnSpPr>
        <p:spPr>
          <a:xfrm>
            <a:off x="10327640" y="2763520"/>
            <a:ext cx="0" cy="587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D08C329-B439-DAFA-FD53-698AA77FC9CA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10327640" y="3686016"/>
            <a:ext cx="0" cy="7124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4574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D99710-2816-6EDC-211F-423844ABC5C7}"/>
              </a:ext>
            </a:extLst>
          </p:cNvPr>
          <p:cNvSpPr txBox="1"/>
          <p:nvPr/>
        </p:nvSpPr>
        <p:spPr>
          <a:xfrm>
            <a:off x="3119120" y="427439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Skills Across All Jobs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A6991B-5B70-329B-A526-A1D69B4CA1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738" y="1378098"/>
            <a:ext cx="7505869" cy="451104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96A6094-D1A9-FD82-DCD4-7B8FEE1F5A4D}"/>
              </a:ext>
            </a:extLst>
          </p:cNvPr>
          <p:cNvSpPr/>
          <p:nvPr/>
        </p:nvSpPr>
        <p:spPr>
          <a:xfrm>
            <a:off x="8483600" y="0"/>
            <a:ext cx="3708400" cy="67767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&amp; SQL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appear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40 % of all postings combined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confirming they’re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analytical stack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roles.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remains indispensable, proving that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business-ready data handling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still outranks advanced automation in volume.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 skills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like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Solving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rank within the top 5 — highlighting demand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skill sets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tools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(Power BI, Tableau) collectively appear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17 % of postings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rapid adoption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storytelling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corporate analytics.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C9A563-D874-2FB2-3FB3-2FE49C7A0367}"/>
              </a:ext>
            </a:extLst>
          </p:cNvPr>
          <p:cNvSpPr txBox="1"/>
          <p:nvPr/>
        </p:nvSpPr>
        <p:spPr>
          <a:xfrm>
            <a:off x="480060" y="5993411"/>
            <a:ext cx="64795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+mj-lt"/>
              </a:rPr>
              <a:t>Dataset Source: LinkedIn, Naukri, Indeed | Total Records: 9,326 | Skills </a:t>
            </a:r>
            <a:r>
              <a:rPr lang="en-IN" dirty="0" err="1">
                <a:latin typeface="+mj-lt"/>
              </a:rPr>
              <a:t>Analyzed</a:t>
            </a:r>
            <a:r>
              <a:rPr lang="en-IN" dirty="0">
                <a:latin typeface="+mj-lt"/>
              </a:rPr>
              <a:t>: 120+</a:t>
            </a:r>
          </a:p>
        </p:txBody>
      </p:sp>
    </p:spTree>
    <p:extLst>
      <p:ext uri="{BB962C8B-B14F-4D97-AF65-F5344CB8AC3E}">
        <p14:creationId xmlns:p14="http://schemas.microsoft.com/office/powerpoint/2010/main" val="1286811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8B2F13-D0C3-3B88-88ED-7D157F3B5A8A}"/>
              </a:ext>
            </a:extLst>
          </p:cNvPr>
          <p:cNvSpPr txBox="1"/>
          <p:nvPr/>
        </p:nvSpPr>
        <p:spPr>
          <a:xfrm>
            <a:off x="3119120" y="41985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 by Industry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5CD836-AF11-1545-071F-0637677D7F9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092" y="1522751"/>
            <a:ext cx="5982535" cy="4239217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2BF5515-0CD2-88AD-E869-3017093FE75D}"/>
              </a:ext>
            </a:extLst>
          </p:cNvPr>
          <p:cNvSpPr/>
          <p:nvPr/>
        </p:nvSpPr>
        <p:spPr>
          <a:xfrm>
            <a:off x="7772400" y="0"/>
            <a:ext cx="4419600" cy="6858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Tech-Driven Roles: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and Analytics industries show the highest demand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Python, SQL, and BI tools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reflecting a heavy emphasis on automation, analytics, and data management skills.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Sectors: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Finance, Education, and Marketing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continue to rely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skills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practical data handling and stakeholder coordination remain critical.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Emerging Pattern: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appears mainly in IT-related roles, showing it’s still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specialized skill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rather than a general market requirement.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695E5F-93C9-45DD-4CFA-1B9B5A63C42D}"/>
              </a:ext>
            </a:extLst>
          </p:cNvPr>
          <p:cNvSpPr txBox="1"/>
          <p:nvPr/>
        </p:nvSpPr>
        <p:spPr>
          <a:xfrm>
            <a:off x="1032092" y="5945555"/>
            <a:ext cx="6101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+mj-lt"/>
              </a:rPr>
              <a:t>Data Source: Web-scraped job postings (LinkedIn, Naukri, Indeed) | Total records: 9,326 | Skills </a:t>
            </a:r>
            <a:r>
              <a:rPr lang="en-IN" sz="1600" dirty="0" err="1">
                <a:latin typeface="+mj-lt"/>
              </a:rPr>
              <a:t>analyzed</a:t>
            </a:r>
            <a:r>
              <a:rPr lang="en-IN" sz="1600" dirty="0">
                <a:latin typeface="+mj-lt"/>
              </a:rPr>
              <a:t>: 120+</a:t>
            </a:r>
          </a:p>
        </p:txBody>
      </p:sp>
    </p:spTree>
    <p:extLst>
      <p:ext uri="{BB962C8B-B14F-4D97-AF65-F5344CB8AC3E}">
        <p14:creationId xmlns:p14="http://schemas.microsoft.com/office/powerpoint/2010/main" val="1135577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439780-4A06-39F7-55DB-4DDACD10F9F4}"/>
              </a:ext>
            </a:extLst>
          </p:cNvPr>
          <p:cNvSpPr txBox="1"/>
          <p:nvPr/>
        </p:nvSpPr>
        <p:spPr>
          <a:xfrm>
            <a:off x="3149600" y="45033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ED416B7-C395-B650-94BD-44A7F7353B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041" y="1083131"/>
            <a:ext cx="7670800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Hybrid Skillsets Dominate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Job postings increasingly combine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technical tools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(Python, SQL, Power BI) with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 skills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(communication, problem solving).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 out of 5 roles expect both analytics and business communication.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&amp; Reporting Tools Rising Fast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Power BI and Tableau mentions grew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~25 % YoY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signaling demand for analysts who can convert data into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business stories.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Tools Still Ubiquitous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Excel remains among the top 3, proving legacy platforms still anchor day-to-day decision support in most firms.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Demand Concentrated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ML &amp; Python roles are clustered in tech and finance sectors — not yet mainstream in other industries.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 Skills Are Career Multipliers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Communication, teamwork, and leadership skills appear in 30 % + of postings — a clear shift toward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data-driven collaboration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roles.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8210564-DE30-4832-E107-D870EBCCFB53}"/>
              </a:ext>
            </a:extLst>
          </p:cNvPr>
          <p:cNvSpPr/>
          <p:nvPr/>
        </p:nvSpPr>
        <p:spPr>
          <a:xfrm>
            <a:off x="8219440" y="0"/>
            <a:ext cx="3972560" cy="6858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Job Seekers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skill portfolio: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+ SQL + Excel + Power BI + Communication.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storytelling with 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not just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outcomes and insights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just tools used.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Employers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Redefine hiring rubrics to include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communication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core competency.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upskilling programs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existing teams (Power BI, data literacy).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 JD requirements with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outcomes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only tool checklists.</a:t>
            </a:r>
          </a:p>
        </p:txBody>
      </p:sp>
    </p:spTree>
    <p:extLst>
      <p:ext uri="{BB962C8B-B14F-4D97-AF65-F5344CB8AC3E}">
        <p14:creationId xmlns:p14="http://schemas.microsoft.com/office/powerpoint/2010/main" val="3343856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260C65-3CFD-9BA9-05A0-769C6E5B4FA1}"/>
              </a:ext>
            </a:extLst>
          </p:cNvPr>
          <p:cNvSpPr txBox="1"/>
          <p:nvPr/>
        </p:nvSpPr>
        <p:spPr>
          <a:xfrm>
            <a:off x="3220720" y="36905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Scope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E2B117F-99FF-0FB8-E307-C357DD67E598}"/>
              </a:ext>
            </a:extLst>
          </p:cNvPr>
          <p:cNvSpPr/>
          <p:nvPr/>
        </p:nvSpPr>
        <p:spPr>
          <a:xfrm>
            <a:off x="995680" y="1483360"/>
            <a:ext cx="4582160" cy="44297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Takeaways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2025 job market demands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fusion of technical, analytical, and communication skills.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Python, SQL, and Excel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remain the foundational trio for analytical roles across industries.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tools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like Power BI and Tableau are no longer optional — they define data literacy in business contexts.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Companies are increasingly prioritizing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impact and data storytelling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 theoretical knowledge.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FD9BDF9-F81D-BC53-9739-BB33634EFA25}"/>
              </a:ext>
            </a:extLst>
          </p:cNvPr>
          <p:cNvSpPr/>
          <p:nvPr/>
        </p:nvSpPr>
        <p:spPr>
          <a:xfrm>
            <a:off x="6268720" y="1483360"/>
            <a:ext cx="4500880" cy="45110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Steps / Expansion Ideas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Wider Dataset Integration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Incorporate additional platforms (Glassdoor, LinkedIn API) for deeper coverage.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Time-Series Trend Analysis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quarterly shifts in skill demand to forecast hiring trends.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Salary Correlation Modeling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 skill combinations to compensation bands for more actionable career insights.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Dashboard Development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live Power BI or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to auto-refresh insights.</a:t>
            </a:r>
          </a:p>
        </p:txBody>
      </p:sp>
    </p:spTree>
    <p:extLst>
      <p:ext uri="{BB962C8B-B14F-4D97-AF65-F5344CB8AC3E}">
        <p14:creationId xmlns:p14="http://schemas.microsoft.com/office/powerpoint/2010/main" val="2121852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68DEAC-C269-9EB2-7075-D3D7ED463966}"/>
              </a:ext>
            </a:extLst>
          </p:cNvPr>
          <p:cNvSpPr txBox="1"/>
          <p:nvPr/>
        </p:nvSpPr>
        <p:spPr>
          <a:xfrm>
            <a:off x="3048000" y="50113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Workflow and Tech Stack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59C924-C6FF-7CBB-B439-92DF889E7AC1}"/>
              </a:ext>
            </a:extLst>
          </p:cNvPr>
          <p:cNvSpPr/>
          <p:nvPr/>
        </p:nvSpPr>
        <p:spPr>
          <a:xfrm>
            <a:off x="6329682" y="1465580"/>
            <a:ext cx="5334000" cy="44012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3160F0-4392-E712-A1A7-70BBDDEA56DD}"/>
              </a:ext>
            </a:extLst>
          </p:cNvPr>
          <p:cNvSpPr txBox="1"/>
          <p:nvPr/>
        </p:nvSpPr>
        <p:spPr>
          <a:xfrm>
            <a:off x="233682" y="1247874"/>
            <a:ext cx="609600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Steps</a:t>
            </a:r>
          </a:p>
          <a:p>
            <a:pPr>
              <a:buFont typeface="+mj-lt"/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Scraped job postings from multiple platforms (LinkedIn, Naukri, Indeed) using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job title, skills, company, location, and role type.</a:t>
            </a:r>
          </a:p>
          <a:p>
            <a:pPr>
              <a:buFont typeface="+mj-lt"/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Preparation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duplicates, standardized skill names, and handled missing values using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&amp; Regex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Ensured uniform column structure for merging across sources.</a:t>
            </a:r>
          </a:p>
          <a:p>
            <a:pPr>
              <a:buFont typeface="+mj-lt"/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frequency analysis on skills and industries.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summary tables to identify top skill clusters using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&amp; Pandas visualization tools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&amp; Reporting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interactive visuals in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skill demand charts, industry variation visuals, and trend cards.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Focused on clarity, color consistency, and professional layout.</a:t>
            </a:r>
          </a:p>
          <a:p>
            <a:pPr>
              <a:buFont typeface="+mj-lt"/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 Derivation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Interpreted results into actionable hiring insights &amp; recommendations.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Summarized patterns, correlations, and growth trends for presentation.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D49CC0B0-45E5-FE91-95CD-22D8A38AE3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2114486"/>
              </p:ext>
            </p:extLst>
          </p:nvPr>
        </p:nvGraphicFramePr>
        <p:xfrm>
          <a:off x="6329682" y="1465580"/>
          <a:ext cx="5476238" cy="3926839"/>
        </p:xfrm>
        <a:graphic>
          <a:graphicData uri="http://schemas.openxmlformats.org/drawingml/2006/table">
            <a:tbl>
              <a:tblPr/>
              <a:tblGrid>
                <a:gridCol w="2738119">
                  <a:extLst>
                    <a:ext uri="{9D8B030D-6E8A-4147-A177-3AD203B41FA5}">
                      <a16:colId xmlns:a16="http://schemas.microsoft.com/office/drawing/2014/main" val="4022364292"/>
                    </a:ext>
                  </a:extLst>
                </a:gridCol>
                <a:gridCol w="2738119">
                  <a:extLst>
                    <a:ext uri="{9D8B030D-6E8A-4147-A177-3AD203B41FA5}">
                      <a16:colId xmlns:a16="http://schemas.microsoft.com/office/drawing/2014/main" val="2596996034"/>
                    </a:ext>
                  </a:extLst>
                </a:gridCol>
              </a:tblGrid>
              <a:tr h="461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Tools / Libraries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8677609"/>
                  </a:ext>
                </a:extLst>
              </a:tr>
              <a:tr h="461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Programming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8378209"/>
                  </a:ext>
                </a:extLst>
              </a:tr>
              <a:tr h="1154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Libraries Used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Pandas, NumPy, BeautifulSoup, Requests, Matplotlib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6190598"/>
                  </a:ext>
                </a:extLst>
              </a:tr>
              <a:tr h="461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Visualization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BI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8692643"/>
                  </a:ext>
                </a:extLst>
              </a:tr>
              <a:tr h="461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Cleaning &amp; Prep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Regex, Pandas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2810079"/>
                  </a:ext>
                </a:extLst>
              </a:tr>
              <a:tr h="461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Documentation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 PowerPoint, Notion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9144986"/>
                  </a:ext>
                </a:extLst>
              </a:tr>
              <a:tr h="461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Version Control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GitHub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6598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2682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00CA73-1FF1-B5E0-00F6-A0D56E25A4A4}"/>
              </a:ext>
            </a:extLst>
          </p:cNvPr>
          <p:cNvSpPr txBox="1"/>
          <p:nvPr/>
        </p:nvSpPr>
        <p:spPr>
          <a:xfrm>
            <a:off x="3048000" y="2655054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48422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1236</TotalTime>
  <Words>1038</Words>
  <Application>Microsoft Office PowerPoint</Application>
  <PresentationFormat>Widescreen</PresentationFormat>
  <Paragraphs>110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 Light</vt:lpstr>
      <vt:lpstr>Times New Roman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Dhanujasri S</dc:creator>
  <cp:lastModifiedBy>Dhanujasri S</cp:lastModifiedBy>
  <cp:revision>1</cp:revision>
  <dcterms:created xsi:type="dcterms:W3CDTF">2025-10-25T14:18:58Z</dcterms:created>
  <dcterms:modified xsi:type="dcterms:W3CDTF">2025-10-30T07:30:00Z</dcterms:modified>
</cp:coreProperties>
</file>